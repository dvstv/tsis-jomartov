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Начните с назначения: это каталог книг с описаниями и обложками. Посетители просматривают книги, а зарегистрированные пользователи пополняют коллекцию. Проект выполнен по заданию TSIS I. Обозначьте стек: Python, Django, SQLite, HTML, CSS, JavaScript и Pillow. Это не онлайн-читалка: полные тексты книг не загружаются.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главную страницу и каталог. Объясните разницу между гостем, вошедшим пользователем и администратором. Поиск работает по названию или автору; жанр ограничивает выборку. В каталоге есть пагинация по восемь книг. Администратор может редактировать и удалять записи через стандартную панель /admin/. В обычном интерфейсе редактирование и удаление пока отсутствуют.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Разберите один запрос: браузер открывает /books/. URL-маршрут вызывает BookListView. Представление получает книги через ORM, обращающуюся к SQLite, и передаёт данные в шаблон book_list.html. Шаблон превращает данные в HTML, который получает браузер. В Django это архитектура Model–Template–View. View здесь — обработчик запроса, а не HTML-страница.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Объясните различие проекта и приложения. config хранит общие настройки и корневые маршруты. books отвечает за каталог, модель, формы и страницы книг. users отвечает за регистрацию и подключение стандартных обработчиков входа и выхода. templates содержит HTML, static — CSS и JavaScript. media и db.sqlite3 создаются локально и не входят в Git. manage.py запускает команды Django.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Откройте books/models.py. Модель описывает поля книги и становится таблицей через миграцию. У каждой записи есть автоматически создаваемый id. author — автор произведения, а added_by — пользователь, который добавил запись. ForeignKey задаёт отношение: один пользователь может добавить много книг. SET_NULL сохраняет книги после удаления пользователя. ImageField хранит имя файла; сами байты изображения находятся в media/.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books/urls.py. Пустой путь — главная; books/ — каталог; books/add/ — создание; books/&lt;int:pk&gt;/ — страница записи. int ограничивает параметр целым числом. as_view превращает класс представления в обработчик. app_name задаёт пространство имён. Имена маршрутов позволяют использовать reverse и тег url, не прописывая пути вручную во всех шаблонах. Отсутствующая книга даёт 404.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Запрос q и genre приходит в GET-параметрах. get_queryset изменяет набор объектов: Q объединяет совпадение названия или автора через ИЛИ. Затем применяется ограничение по жанру. ListView делит результат на страницы по 8 объектов. get_context_data передаёт фильтры в шаблон и сохраняет их при пагинации. У SQLite есть ограничение поиска без учёта регистра кириллицы: в демонстрации вводите Саган с заглавной буквы.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страницу книги и её адрес. BookDetailView наследует DetailView и получает Book по первичному ключу из URL. В шаблон объект передаётся под именем book. Там выводятся название, автор, описание, год, жанр и дата. Если есть обложка — отображается изображение, иначе заглушка. get_absolute_url возвращает канонический путь к записи; на него ведут карточки и перенаправление после добавления.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base.html задаёт общую шапку, навигацию, подключения файлов, сообщения и подвал. Дочерние страницы используют extends и блок content. Фрагмент _card.html подключается через include на главной и в каталоге. На скриншоте видны условия if для обложки и переменные книги. Цикл for в родительской странице повторяет карточку. Пользовательские значения по умолчанию экранируются при выводе.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Форма BookForm наследуется от ModelForm, поэтому поля и часть правил берутся из модели. Файл отправляется через POST с enctype multipart/form-data. ImageField проверяет изображение с Pillow, а clean_cover дополнительно ограничивает размер и форматы. Допускаются JPEG, PNG, WebP до 5 МБ. Медиа сохраняются в media/covers/год/месяц. Проверка обязательна на сервере, даже если есть JavaScript. FILE_UPLOAD_MAX_MEMORY_SIZE управляет памятью, а не заменяет ограничение в форме.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main.js реагирует на изменение файлового поля. Он проверяет размер и заявленный браузером MIME-тип, затем создаёт временный URL выбранного файла и показывает изображение. revokeObjectURL освобождает старый адрес. setCustomValidity сообщает браузеру об ошибке. Это проверка для удобства пользователя; тип файла в браузере не является доказательством безопасности, поэтому сервер независимо проверяет реальное изображение.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Регистрация использует UserCreationForm и стандартную модель User. После успешной регистрации выполняется login. Для входа и выхода подключены стандартные LoginView и LogoutView. Авторизация сохраняется через сессию, а пароли хранятся как хеши. LoginRequiredMixin проверяет доступ на сервере и перенаправляет гостя на вход. При сохранении added_by назначается из request.user, а не берётся из пользовательского поля. В шапке выводится user.username.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широкий и мобильный скриншоты. Сетка использует CSS Grid, навигация и панели — Flexbox. Медиазапросы меняют колонки и расположение элементов. На широком экране четыре карточки в ряд, на мобильном две. Есть анимация появления карточек, эффекты наведения и видимый фокус. Для пользователей с настройкой уменьшения движения анимации отключаются. Главная проверена на ширинах 320, 390, 768 и 1440 пикселей.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Разделите понятия: static — файлы разработчика, то есть CSS, JS и favicon; media — пользовательские обложки. В шаблонах статика подключается через load static и тег static. Адрес обложки берётся из cover.url. POST-формы содержат csrf_token. Пользовательский текст экранируется. Не заявляйте абсолютную безопасность: это базовые механизмы Django, и приложение пока работает в режиме разработки. Для публикации нужны DEBUG=0, новый секрет, HTTPS и отдельная раздача файлов.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слайде настоящий вывод python manage.py test --verbosity 2. Тесты проверяют страницы, поиск, жанры, пагинацию и 404; регистрацию, ошибки входа и выход; создание книги и изображения; валидацию, CSRF и экранирование. Отдельно проверяется повторяемость seed_demo. Тестовая база и временные каталоги не затрагивают рабочие данные. Проверки выполнены в облачной Linux-среде, а не на физическом Mac. Дополнительно пройден сценарий в Chromium.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команды выполняются в папке с manage.py. Виртуальное окружение изолирует зависимости; requirements фиксирует их версии. migrate создаёт таблицы, seed_demo создаёт десять демонстрационных книг и обложки без повторного дублирования. Запуск выполняется через runserver. В VS Code надо выбрать .venv/bin/python через Python: Select Interpreter. Предусмотрена конфигурация отладки F5. Команды переносимы, но на физическом Mac автоматическая проверка не выполнялась.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 выступлением запустите сервер и приготовьте небольшую PNG-обложку. Покажите главную и каталог, найдите Саган и выберите жанр Наука. Откройте подробную страницу. Зарегистрируйтесь с новым именем, чтобы показать его в шапке. Добавьте новую книгу: заполните поля, покажите предпросмотр, сохраните и откройте запись. Затем выйдите и покажите, что добавление снова требует входа. В конце сузьте окно и при необходимости запустите тесты.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Подведите итог: выполнены два приложения, маршруты, наследование шаблонов, HTML/CSS/JS, адаптивность, ImageField и media, каталог и страница книги, отображение вошедшего пользователя. Функциональность подтверждена тестами и браузерным сценарием. Честно назовите ограничения: это каталог без полных текстов, пользовательское редактирование пока отсутствует, Unicode-поиск в SQLite ограничен. Возможные улучшения: PostgreSQL, избранное, отзывы и управление своими записями. Завершите приглашением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ВЕБ-ПРИЛОЖЕНИЕ НА DJANGO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Открытая библиотека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01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1790700"/>
            <a:ext cx="4724400" cy="128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761"/>
              </a:lnSpc>
              <a:spcAft>
                <a:spcPts val="0"/>
              </a:spcAft>
              <a:defRPr sz="3840" b="1">
                <a:solidFill>
                  <a:srgbClr val="233E35"/>
                </a:solidFill>
                <a:latin typeface="Arial"/>
              </a:defRPr>
            </a:pPr>
            <a:r>
              <a:t>Истории, которые</a:t>
            </a:r>
          </a:p>
          <a:p>
            <a:pPr>
              <a:lnSpc>
                <a:spcPts val="4761"/>
              </a:lnSpc>
              <a:spcAft>
                <a:spcPts val="0"/>
              </a:spcAft>
              <a:defRPr sz="3840" b="1">
                <a:solidFill>
                  <a:srgbClr val="233E35"/>
                </a:solidFill>
                <a:latin typeface="Arial"/>
              </a:defRPr>
            </a:pPr>
            <a:r>
              <a:t>объединяют.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" y="3276600"/>
            <a:ext cx="4495800" cy="6809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0"/>
              </a:lnSpc>
              <a:spcAft>
                <a:spcPts val="0"/>
              </a:spcAft>
              <a:defRPr sz="1920" b="0">
                <a:solidFill>
                  <a:srgbClr val="68746D"/>
                </a:solidFill>
                <a:latin typeface="Arial"/>
              </a:defRPr>
            </a:pPr>
            <a:r>
              <a:t>Каталог • Поиск • Личный вход</a:t>
            </a:r>
          </a:p>
          <a:p>
            <a:pPr>
              <a:lnSpc>
                <a:spcPts val="2380"/>
              </a:lnSpc>
              <a:spcAft>
                <a:spcPts val="0"/>
              </a:spcAft>
              <a:defRPr sz="1920" b="0">
                <a:solidFill>
                  <a:srgbClr val="68746D"/>
                </a:solidFill>
                <a:latin typeface="Arial"/>
              </a:defRPr>
            </a:pPr>
            <a:r>
              <a:t>Добавление книг и обложек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680" y="4495800"/>
            <a:ext cx="4343400" cy="914400"/>
          </a:xfrm>
          <a:prstGeom prst="roundRect">
            <a:avLst/>
          </a:prstGeom>
          <a:solidFill>
            <a:srgbClr val="23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671060"/>
            <a:ext cx="3962399" cy="369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6"/>
              </a:lnSpc>
              <a:spcAft>
                <a:spcPts val="0"/>
              </a:spcAft>
              <a:defRPr sz="1859" b="1">
                <a:solidFill>
                  <a:srgbClr val="FFFEFA"/>
                </a:solidFill>
                <a:latin typeface="Arial"/>
              </a:defRPr>
            </a:pPr>
            <a:r>
              <a:t>Python / Django / SQLite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36820"/>
            <a:ext cx="3962399" cy="302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85"/>
              </a:lnSpc>
              <a:spcAft>
                <a:spcPts val="0"/>
              </a:spcAft>
              <a:defRPr sz="1439" b="0">
                <a:solidFill>
                  <a:srgbClr val="D7E0D6"/>
                </a:solidFill>
                <a:latin typeface="Arial"/>
              </a:defRPr>
            </a:pPr>
            <a:r>
              <a:t>HTML5 · CSS · JavaScript · Pillow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18760" y="1562100"/>
            <a:ext cx="6393180" cy="453390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1577340"/>
            <a:ext cx="6362700" cy="4503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01 / ВОЗМОЖНОСТИ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Что умеет приложение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02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50620" y="1546860"/>
            <a:ext cx="6370320" cy="452628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1562100"/>
            <a:ext cx="6339840" cy="4495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34400" y="185166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0" y="1752600"/>
            <a:ext cx="2941320" cy="624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233E35"/>
                </a:solidFill>
                <a:latin typeface="Arial"/>
              </a:defRPr>
            </a:pPr>
            <a:r>
              <a:t>Гость: каталог, поиск,</a:t>
            </a:r>
          </a:p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233E35"/>
                </a:solidFill>
                <a:latin typeface="Arial"/>
              </a:defRPr>
            </a:pPr>
            <a:r>
              <a:t>страница книги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34400" y="274259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7280" y="2643530"/>
            <a:ext cx="2941320" cy="624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233E35"/>
                </a:solidFill>
                <a:latin typeface="Arial"/>
              </a:defRPr>
            </a:pPr>
            <a:r>
              <a:t>Пользователь: добавить</a:t>
            </a:r>
          </a:p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233E35"/>
                </a:solidFill>
                <a:latin typeface="Arial"/>
              </a:defRPr>
            </a:pPr>
            <a:r>
              <a:t>книгу и обложку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34400" y="363352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7280" y="3534460"/>
            <a:ext cx="2941320" cy="624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233E35"/>
                </a:solidFill>
                <a:latin typeface="Arial"/>
              </a:defRPr>
            </a:pPr>
            <a:r>
              <a:t>Администратор:</a:t>
            </a:r>
          </a:p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233E35"/>
                </a:solidFill>
                <a:latin typeface="Arial"/>
              </a:defRPr>
            </a:pPr>
            <a:r>
              <a:t>управлять данными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02 / 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От запроса до страницы: MTV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03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1943100"/>
            <a:ext cx="2514600" cy="16764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180" y="2095499"/>
            <a:ext cx="21336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" y="2522220"/>
            <a:ext cx="2133600" cy="5675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books/urls.py</a:t>
            </a:r>
          </a:p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Выбирает обработчик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6100" y="2529840"/>
            <a:ext cx="289560" cy="454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6"/>
              </a:lnSpc>
              <a:spcAft>
                <a:spcPts val="0"/>
              </a:spcAft>
              <a:defRPr sz="2400" b="1">
                <a:solidFill>
                  <a:srgbClr val="BA704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43100"/>
            <a:ext cx="2514600" cy="16764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3780" y="2095499"/>
            <a:ext cx="21336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780" y="2522220"/>
            <a:ext cx="2133600" cy="5675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BookListView</a:t>
            </a:r>
          </a:p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Готовит данные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1700" y="2529840"/>
            <a:ext cx="289560" cy="454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6"/>
              </a:lnSpc>
              <a:spcAft>
                <a:spcPts val="0"/>
              </a:spcAft>
              <a:defRPr sz="2400" b="1">
                <a:solidFill>
                  <a:srgbClr val="BA704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880" y="1943100"/>
            <a:ext cx="2514600" cy="16764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095499"/>
            <a:ext cx="21336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Model / 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522220"/>
            <a:ext cx="2133600" cy="5675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Book → SQLite</a:t>
            </a:r>
          </a:p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Получает записи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7300" y="2529840"/>
            <a:ext cx="289560" cy="454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6"/>
              </a:lnSpc>
              <a:spcAft>
                <a:spcPts val="0"/>
              </a:spcAft>
              <a:defRPr sz="2400" b="1">
                <a:solidFill>
                  <a:srgbClr val="BA704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74480" y="1943100"/>
            <a:ext cx="2514600" cy="16764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4980" y="2095499"/>
            <a:ext cx="21336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Template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4980" y="2522220"/>
            <a:ext cx="2133600" cy="5675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book_list.html</a:t>
            </a:r>
          </a:p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Формирует HTML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7680" y="4152900"/>
            <a:ext cx="11216640" cy="1478280"/>
          </a:xfrm>
          <a:prstGeom prst="roundRect">
            <a:avLst/>
          </a:prstGeom>
          <a:solidFill>
            <a:srgbClr val="23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900" y="4373880"/>
            <a:ext cx="10668000" cy="425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52"/>
              </a:lnSpc>
              <a:spcAft>
                <a:spcPts val="0"/>
              </a:spcAft>
              <a:defRPr sz="2220" b="1">
                <a:solidFill>
                  <a:srgbClr val="FFFEFA"/>
                </a:solidFill>
                <a:latin typeface="Arial"/>
              </a:defRPr>
            </a:pPr>
            <a:r>
              <a:t>Пример: GET /books/?q=Саган&amp;genre=science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884420"/>
            <a:ext cx="106680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0">
                <a:solidFill>
                  <a:srgbClr val="D7E0D6"/>
                </a:solidFill>
                <a:latin typeface="Arial"/>
              </a:defRPr>
            </a:pPr>
            <a:r>
              <a:t>Маршрут → выборка и фильтры → шаблон → готовая страница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03 / СТРУКТУРА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Два приложения и общая конфигурация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04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1638300"/>
            <a:ext cx="5486400" cy="13716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180" y="1790700"/>
            <a:ext cx="51054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books/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" y="2217420"/>
            <a:ext cx="5105400" cy="5675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Модель Book, формы, представления,</a:t>
            </a:r>
          </a:p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маршруты, миграция и тесты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300" y="1638300"/>
            <a:ext cx="5486400" cy="13716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90700"/>
            <a:ext cx="51054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users/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17420"/>
            <a:ext cx="5105400" cy="5675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Регистрация, вход, выход</a:t>
            </a:r>
          </a:p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и тесты пользователей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7680" y="3276600"/>
            <a:ext cx="5486400" cy="13716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80" y="3429000"/>
            <a:ext cx="51054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config/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" y="3855720"/>
            <a:ext cx="5105400" cy="5675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Настройки, корневые URL,</a:t>
            </a:r>
          </a:p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подключение базы и приложений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300" y="3276600"/>
            <a:ext cx="5486400" cy="13716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429000"/>
            <a:ext cx="51054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templates/ и static/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855720"/>
            <a:ext cx="5105400" cy="5675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Общий HTML и страницы;</a:t>
            </a:r>
          </a:p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локальные CSS и JavaScript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" y="5204460"/>
            <a:ext cx="11125200" cy="3502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68746D"/>
                </a:solidFill>
                <a:latin typeface="Arial"/>
              </a:defRPr>
            </a:pPr>
            <a:r>
              <a:t>manage.py — команды • requirements.txt — зависимости • media/ — загрузки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04 /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Модель Book: как хранятся книги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05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6320" y="1508760"/>
            <a:ext cx="7086600" cy="464058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de-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524000"/>
            <a:ext cx="7056120" cy="46101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953500" y="177546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6380" y="1676400"/>
            <a:ext cx="2560320" cy="8415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Название, автор,</a:t>
            </a:r>
          </a:p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описание,</a:t>
            </a:r>
          </a:p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жанр и год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500" y="2792272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36380" y="2693212"/>
            <a:ext cx="2560320" cy="3313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ImageField: путь к обложке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500" y="329885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6380" y="3199790"/>
            <a:ext cx="2560320" cy="3313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ForeignKey: кто добавил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500" y="3805427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6380" y="3706367"/>
            <a:ext cx="2560320" cy="8415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SET_NULL: книга остаётся</a:t>
            </a:r>
          </a:p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после удаления</a:t>
            </a:r>
          </a:p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пользователя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05 / МАРШРУТИЗАЦИЯ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Маршруты связывают URL и представления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06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40" y="1905000"/>
            <a:ext cx="8412480" cy="281178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de-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920240"/>
            <a:ext cx="8381999" cy="27813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182100" y="196596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4980" y="1866899"/>
            <a:ext cx="2331720" cy="3407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&lt;int:pk&gt; — ID книги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2100" y="2535326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4980" y="2436266"/>
            <a:ext cx="2331720" cy="8698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as_view() —</a:t>
            </a:r>
          </a:p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обработчик</a:t>
            </a:r>
          </a:p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на основе класса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2100" y="3633825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4980" y="3534765"/>
            <a:ext cx="2331720" cy="6053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books:detail — имя</a:t>
            </a:r>
          </a:p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маршрута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" y="5600700"/>
            <a:ext cx="11125200" cy="3502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68746D"/>
                </a:solidFill>
                <a:latin typeface="Arial"/>
              </a:defRPr>
            </a:pPr>
            <a:r>
              <a:t>config/urls.py подключает books, users и стандартную административную панель.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06 / ВЫБОРКА ЧЕРЕЗ 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Поиск, фильтры и страницы каталога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07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40" y="1851660"/>
            <a:ext cx="8107680" cy="394716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de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866899"/>
            <a:ext cx="8077200" cy="3916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839200" y="176022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22080" y="1661160"/>
            <a:ext cx="2674620" cy="6053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GET: поиск не изменяет</a:t>
            </a:r>
          </a:p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данные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9200" y="2571292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22080" y="2472232"/>
            <a:ext cx="2674620" cy="6053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Q(...) | Q(...) —</a:t>
            </a:r>
          </a:p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название ИЛИ автор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9200" y="3382365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2080" y="3283305"/>
            <a:ext cx="2674620" cy="6053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filter(genre=...) —</a:t>
            </a:r>
          </a:p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ограничение по жанру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9200" y="4193438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2080" y="4094378"/>
            <a:ext cx="2674620" cy="3407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paginate_by =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07 / DETAILVIEW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Страница книги: один объект по 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08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56360" y="1584960"/>
            <a:ext cx="6263640" cy="445008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00200"/>
            <a:ext cx="6233160" cy="4419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63000" y="177546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5880" y="1676400"/>
            <a:ext cx="2712720" cy="6053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DetailView получает Book</a:t>
            </a:r>
          </a:p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по первичному ключу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3000" y="2578912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5880" y="2479852"/>
            <a:ext cx="2712720" cy="3407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Контекст шаблона: 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63000" y="3117799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45880" y="3018739"/>
            <a:ext cx="2712720" cy="6053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get_absolute_url()</a:t>
            </a:r>
          </a:p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возвращает адрес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0" y="3921251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45880" y="3822191"/>
            <a:ext cx="2712720" cy="3407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3"/>
              </a:lnSpc>
              <a:spcAft>
                <a:spcPts val="0"/>
              </a:spcAft>
              <a:defRPr sz="1680" b="0">
                <a:solidFill>
                  <a:srgbClr val="233E35"/>
                </a:solidFill>
                <a:latin typeface="Arial"/>
              </a:defRPr>
            </a:pPr>
            <a:r>
              <a:t>Нет записи → HTTP 404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08 / DJANGO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Шаблоны: наследование и повторное использование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09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40" y="1607820"/>
            <a:ext cx="8412480" cy="356616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de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623060"/>
            <a:ext cx="8381999" cy="3535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144000" y="173736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638300"/>
            <a:ext cx="2369820" cy="3313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extends — общий каркас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221077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2122017"/>
            <a:ext cx="2369820" cy="586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block — содержимое</a:t>
            </a:r>
          </a:p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конкретной страницы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959912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860852"/>
            <a:ext cx="2369820" cy="586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include — карточка</a:t>
            </a:r>
          </a:p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книги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698748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3599688"/>
            <a:ext cx="2369820" cy="586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for / if — список</a:t>
            </a:r>
          </a:p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и условия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680" y="5676900"/>
            <a:ext cx="11125200" cy="369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6"/>
              </a:lnSpc>
              <a:spcAft>
                <a:spcPts val="0"/>
              </a:spcAft>
              <a:defRPr sz="1859" b="1">
                <a:solidFill>
                  <a:srgbClr val="233E35"/>
                </a:solidFill>
                <a:latin typeface="Arial"/>
              </a:defRPr>
            </a:pPr>
            <a:r>
              <a:t>base.html → home.html / book_list.html / book_detail.html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09 / ФОРМЫ И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Загрузка обложки: проверка на сервере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10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58240" y="1508760"/>
            <a:ext cx="2468880" cy="464058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d-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" y="1524000"/>
            <a:ext cx="2438400" cy="46101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94860" y="2057400"/>
            <a:ext cx="7078980" cy="208788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de-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0" y="2072640"/>
            <a:ext cx="7048500" cy="2057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724400" y="493776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280" y="4838700"/>
            <a:ext cx="6675120" cy="3313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ModelForm связывает форму и модель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4400" y="5345277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7280" y="5246217"/>
            <a:ext cx="6675120" cy="3313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JPEG / PNG / WebP, не больше 5 МБ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24400" y="5752795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7280" y="5653735"/>
            <a:ext cx="6675120" cy="3313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233E35"/>
                </a:solidFill>
                <a:latin typeface="Arial"/>
              </a:defRPr>
            </a:pPr>
            <a:r>
              <a:t>В базе — путь; файл — в media/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10 / ПРЕДПРОСМОТР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JavaScript: удобство до отправки формы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11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40" y="1607820"/>
            <a:ext cx="8260080" cy="447294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de-javasc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623060"/>
            <a:ext cx="8229600" cy="44424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456420" y="1584960"/>
            <a:ext cx="1470660" cy="204978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1660" y="1600200"/>
            <a:ext cx="1440180" cy="2019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91600" y="3924300"/>
            <a:ext cx="2667000" cy="8982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1">
                <a:solidFill>
                  <a:srgbClr val="233E35"/>
                </a:solidFill>
                <a:latin typeface="Arial"/>
              </a:defRPr>
            </a:pPr>
            <a:r>
              <a:t>Выбрать файл →</a:t>
            </a:r>
          </a:p>
          <a:p>
            <a:pPr>
              <a:lnSpc>
                <a:spcPts val="2157"/>
              </a:lnSpc>
              <a:spcAft>
                <a:spcPts val="0"/>
              </a:spcAft>
              <a:defRPr sz="1739" b="1">
                <a:solidFill>
                  <a:srgbClr val="233E35"/>
                </a:solidFill>
                <a:latin typeface="Arial"/>
              </a:defRPr>
            </a:pPr>
            <a:r>
              <a:t>увидеть обложку →</a:t>
            </a:r>
          </a:p>
          <a:p>
            <a:pPr>
              <a:lnSpc>
                <a:spcPts val="2157"/>
              </a:lnSpc>
              <a:spcAft>
                <a:spcPts val="0"/>
              </a:spcAft>
              <a:defRPr sz="1739" b="1">
                <a:solidFill>
                  <a:srgbClr val="233E35"/>
                </a:solidFill>
                <a:latin typeface="Arial"/>
              </a:defRPr>
            </a:pPr>
            <a:r>
              <a:t>отправить форму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600" y="5143500"/>
            <a:ext cx="2667000" cy="586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68746D"/>
                </a:solidFill>
                <a:latin typeface="Arial"/>
              </a:defRPr>
            </a:pPr>
            <a:r>
              <a:t>Клиентская проверка</a:t>
            </a:r>
          </a:p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68746D"/>
                </a:solidFill>
                <a:latin typeface="Arial"/>
              </a:defRPr>
            </a:pPr>
            <a:r>
              <a:t>дополняет серверную.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11 / АВТОРИЗАЦИЯ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Вход и права на добавление книги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12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40" y="1790700"/>
            <a:ext cx="7269480" cy="243078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de-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805940"/>
            <a:ext cx="7239000" cy="24003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65820" y="1546860"/>
            <a:ext cx="2804160" cy="300228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060" y="1562100"/>
            <a:ext cx="2773680" cy="2971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1500" y="482346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" y="4724400"/>
            <a:ext cx="10866120" cy="3502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233E35"/>
                </a:solidFill>
                <a:latin typeface="Arial"/>
              </a:defRPr>
            </a:pPr>
            <a:r>
              <a:t>LoginRequiredMixin — доступ только после входа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5295595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" y="5196535"/>
            <a:ext cx="10866120" cy="3502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233E35"/>
                </a:solidFill>
                <a:latin typeface="Arial"/>
              </a:defRPr>
            </a:pPr>
            <a:r>
              <a:t>form.instance.added_by = request.user — автор записи назначается сервером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576773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" y="5668670"/>
            <a:ext cx="10866120" cy="3502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233E35"/>
                </a:solidFill>
                <a:latin typeface="Arial"/>
              </a:defRPr>
            </a:pPr>
            <a:r>
              <a:t>В шапке: user.username; выход — POST с CSRF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12 / АДАПТИВНОСТЬ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Один сайт на широком и узком экране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13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480" y="1546860"/>
            <a:ext cx="6316980" cy="448818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562100"/>
            <a:ext cx="6286500" cy="44577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64880" y="1470660"/>
            <a:ext cx="1996439" cy="483108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120" y="1485900"/>
            <a:ext cx="1965960" cy="4800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7680" y="5875020"/>
            <a:ext cx="7239000" cy="3313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1">
                <a:solidFill>
                  <a:srgbClr val="233E35"/>
                </a:solidFill>
                <a:latin typeface="Arial"/>
              </a:defRPr>
            </a:pPr>
            <a:r>
              <a:t>Grid + Flexbox + @media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0" y="2476500"/>
            <a:ext cx="1066800" cy="5675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Мобильный</a:t>
            </a:r>
          </a:p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вид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13 / НАДЁЖНОСТЬ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Статика, медиа и защита форм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14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1600200"/>
            <a:ext cx="5486400" cy="14478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180" y="1752600"/>
            <a:ext cx="51054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static/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" y="2179320"/>
            <a:ext cx="5105400" cy="5675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CSS, JavaScript, favicon</a:t>
            </a:r>
          </a:p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Подключение: {% static ... %}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300" y="1600200"/>
            <a:ext cx="5486400" cy="14478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52600"/>
            <a:ext cx="51054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media/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79320"/>
            <a:ext cx="5105400" cy="5675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Загруженные обложки</a:t>
            </a:r>
          </a:p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Адрес: book.cover.url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700" y="356616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580" y="3467100"/>
            <a:ext cx="10637520" cy="369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6"/>
              </a:lnSpc>
              <a:spcAft>
                <a:spcPts val="0"/>
              </a:spcAft>
              <a:defRPr sz="1859" b="0">
                <a:solidFill>
                  <a:srgbClr val="233E35"/>
                </a:solidFill>
                <a:latin typeface="Arial"/>
              </a:defRPr>
            </a:pPr>
            <a:r>
              <a:t>CSRF-токены — защита изменяющих запросов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700" y="4064812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580" y="3965752"/>
            <a:ext cx="10637520" cy="369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6"/>
              </a:lnSpc>
              <a:spcAft>
                <a:spcPts val="0"/>
              </a:spcAft>
              <a:defRPr sz="1859" b="0">
                <a:solidFill>
                  <a:srgbClr val="233E35"/>
                </a:solidFill>
                <a:latin typeface="Arial"/>
              </a:defRPr>
            </a:pPr>
            <a:r>
              <a:t>Серверная проверка данных и проверка входа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700" y="4563465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580" y="4464405"/>
            <a:ext cx="10637520" cy="369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6"/>
              </a:lnSpc>
              <a:spcAft>
                <a:spcPts val="0"/>
              </a:spcAft>
              <a:defRPr sz="1859" b="0">
                <a:solidFill>
                  <a:srgbClr val="233E35"/>
                </a:solidFill>
                <a:latin typeface="Arial"/>
              </a:defRPr>
            </a:pPr>
            <a:r>
              <a:t>Экранирование пользовательского текста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700" y="5062118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580" y="4963058"/>
            <a:ext cx="10637520" cy="369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6"/>
              </a:lnSpc>
              <a:spcAft>
                <a:spcPts val="0"/>
              </a:spcAft>
              <a:defRPr sz="1859" b="0">
                <a:solidFill>
                  <a:srgbClr val="233E35"/>
                </a:solidFill>
                <a:latin typeface="Arial"/>
              </a:defRPr>
            </a:pPr>
            <a:r>
              <a:t>Пароли и сессии — стандартные механизмы Django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14 / ПОДТВЕРЖДЕНИЕ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Проверка: 16 автоматических тестов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15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4940" y="1546860"/>
            <a:ext cx="6507480" cy="4526280"/>
          </a:xfrm>
          <a:prstGeom prst="round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st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80" y="1562100"/>
            <a:ext cx="6477000" cy="4495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0" y="1752600"/>
            <a:ext cx="2514600" cy="7092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84"/>
              </a:lnSpc>
              <a:spcAft>
                <a:spcPts val="0"/>
              </a:spcAft>
              <a:defRPr sz="4019" b="1">
                <a:solidFill>
                  <a:srgbClr val="233E35"/>
                </a:solidFill>
                <a:latin typeface="Arial"/>
              </a:defRPr>
            </a:pPr>
            <a:r>
              <a:t>16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6860" y="2400300"/>
            <a:ext cx="2438400" cy="388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55"/>
              </a:lnSpc>
              <a:spcAft>
                <a:spcPts val="0"/>
              </a:spcAft>
              <a:defRPr sz="1980" b="1">
                <a:solidFill>
                  <a:srgbClr val="BA704D"/>
                </a:solidFill>
                <a:latin typeface="Arial"/>
              </a:defRPr>
            </a:pPr>
            <a:r>
              <a:t>успешно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7800" y="318516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50680" y="3086100"/>
            <a:ext cx="244602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9"/>
              </a:lnSpc>
              <a:spcAft>
                <a:spcPts val="0"/>
              </a:spcAft>
              <a:defRPr sz="1500" b="0">
                <a:solidFill>
                  <a:srgbClr val="233E35"/>
                </a:solidFill>
                <a:latin typeface="Arial"/>
              </a:defRPr>
            </a:pPr>
            <a:r>
              <a:t>Страницы и поиск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7800" y="364998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0680" y="3550920"/>
            <a:ext cx="244602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9"/>
              </a:lnSpc>
              <a:spcAft>
                <a:spcPts val="0"/>
              </a:spcAft>
              <a:defRPr sz="1500" b="0">
                <a:solidFill>
                  <a:srgbClr val="233E35"/>
                </a:solidFill>
                <a:latin typeface="Arial"/>
              </a:defRPr>
            </a:pPr>
            <a:r>
              <a:t>Вход и регистрация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7800" y="411480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0680" y="4015740"/>
            <a:ext cx="244602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9"/>
              </a:lnSpc>
              <a:spcAft>
                <a:spcPts val="0"/>
              </a:spcAft>
              <a:defRPr sz="1500" b="0">
                <a:solidFill>
                  <a:srgbClr val="233E35"/>
                </a:solidFill>
                <a:latin typeface="Arial"/>
              </a:defRPr>
            </a:pPr>
            <a:r>
              <a:t>Обложки и ошибки форм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7800" y="457962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0680" y="4480560"/>
            <a:ext cx="244602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9"/>
              </a:lnSpc>
              <a:spcAft>
                <a:spcPts val="0"/>
              </a:spcAft>
              <a:defRPr sz="1500" b="0">
                <a:solidFill>
                  <a:srgbClr val="233E35"/>
                </a:solidFill>
                <a:latin typeface="Arial"/>
              </a:defRPr>
            </a:pPr>
            <a:r>
              <a:t>CSRF и экранирование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15 / ВОСПРОИЗВОДИМОСТЬ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Запуск в VS Code на macOS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16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1676400"/>
            <a:ext cx="7315200" cy="3962399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1943100"/>
            <a:ext cx="6858000" cy="3502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D9EAD9"/>
                </a:solidFill>
                <a:latin typeface="Arial"/>
              </a:defRPr>
            </a:pPr>
            <a:r>
              <a:t>python3 -m venv .venv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2491740"/>
            <a:ext cx="6858000" cy="3502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D9EAD9"/>
                </a:solidFill>
                <a:latin typeface="Arial"/>
              </a:defRPr>
            </a:pPr>
            <a:r>
              <a:t>source .venv/bin/activate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040380"/>
            <a:ext cx="6858000" cy="3502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D9EAD9"/>
                </a:solidFill>
                <a:latin typeface="Arial"/>
              </a:defRPr>
            </a:pPr>
            <a:r>
              <a:t>python -m pip install -r requirements.txt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3589020"/>
            <a:ext cx="6858000" cy="3502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D9EAD9"/>
                </a:solidFill>
                <a:latin typeface="Arial"/>
              </a:defRPr>
            </a:pPr>
            <a:r>
              <a:t>python manage.py migrate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137660"/>
            <a:ext cx="6858000" cy="3502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D9EAD9"/>
                </a:solidFill>
                <a:latin typeface="Arial"/>
              </a:defRPr>
            </a:pPr>
            <a:r>
              <a:t>python manage.py seed_demo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4686300"/>
            <a:ext cx="6858000" cy="3502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D9EAD9"/>
                </a:solidFill>
                <a:latin typeface="Arial"/>
              </a:defRPr>
            </a:pPr>
            <a:r>
              <a:t>python manage.py runserver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6596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66899"/>
            <a:ext cx="3169920" cy="3502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233E35"/>
                </a:solidFill>
                <a:latin typeface="Arial"/>
              </a:defRPr>
            </a:pPr>
            <a:r>
              <a:t>Python 3.12+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560015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460955"/>
            <a:ext cx="3169920" cy="624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233E35"/>
                </a:solidFill>
                <a:latin typeface="Arial"/>
              </a:defRPr>
            </a:pPr>
            <a:r>
              <a:t>Интерпретатор:</a:t>
            </a:r>
          </a:p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233E35"/>
                </a:solidFill>
                <a:latin typeface="Arial"/>
              </a:defRPr>
            </a:pPr>
            <a:r>
              <a:t>.venv/bin/python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428085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329025"/>
            <a:ext cx="3169920" cy="3502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233E35"/>
                </a:solidFill>
                <a:latin typeface="Arial"/>
              </a:defRPr>
            </a:pPr>
            <a:r>
              <a:t>Демоданные: 10 книг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022140"/>
            <a:ext cx="53340" cy="53340"/>
          </a:xfrm>
          <a:prstGeom prst="roundRect">
            <a:avLst/>
          </a:prstGeom>
          <a:solidFill>
            <a:srgbClr val="BA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923080"/>
            <a:ext cx="3169920" cy="624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233E35"/>
                </a:solidFill>
                <a:latin typeface="Arial"/>
              </a:defRPr>
            </a:pPr>
            <a:r>
              <a:t>runserver — режим</a:t>
            </a:r>
          </a:p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233E35"/>
                </a:solidFill>
                <a:latin typeface="Arial"/>
              </a:defRPr>
            </a:pPr>
            <a:r>
              <a:t>разработки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16 / ЖИВАЯ 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Как показать работу на защите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17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2057400"/>
            <a:ext cx="2095499" cy="26670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20" y="2225040"/>
            <a:ext cx="16764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92"/>
              </a:lnSpc>
              <a:spcAft>
                <a:spcPts val="0"/>
              </a:spcAft>
              <a:defRPr sz="3300" b="1">
                <a:solidFill>
                  <a:srgbClr val="BA704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" y="2971800"/>
            <a:ext cx="17526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Каталог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" y="3505200"/>
            <a:ext cx="1752600" cy="586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68746D"/>
                </a:solidFill>
                <a:latin typeface="Arial"/>
              </a:defRPr>
            </a:pPr>
            <a:r>
              <a:t>Найти «Саган»</a:t>
            </a:r>
          </a:p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68746D"/>
                </a:solidFill>
                <a:latin typeface="Arial"/>
              </a:defRPr>
            </a:pPr>
            <a:r>
              <a:t>и выбрать жанр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8440" y="2057400"/>
            <a:ext cx="2095499" cy="26670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225040"/>
            <a:ext cx="16764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92"/>
              </a:lnSpc>
              <a:spcAft>
                <a:spcPts val="0"/>
              </a:spcAft>
              <a:defRPr sz="3300" b="1">
                <a:solidFill>
                  <a:srgbClr val="BA704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71800"/>
            <a:ext cx="17526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Страница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05200"/>
            <a:ext cx="1752600" cy="586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68746D"/>
                </a:solidFill>
                <a:latin typeface="Arial"/>
              </a:defRPr>
            </a:pPr>
            <a:r>
              <a:t>Открыть книгу</a:t>
            </a:r>
          </a:p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68746D"/>
                </a:solidFill>
                <a:latin typeface="Arial"/>
              </a:defRPr>
            </a:pPr>
            <a:r>
              <a:t>и обложку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057400"/>
            <a:ext cx="2095499" cy="26670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6840" y="2225040"/>
            <a:ext cx="16764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92"/>
              </a:lnSpc>
              <a:spcAft>
                <a:spcPts val="0"/>
              </a:spcAft>
              <a:defRPr sz="3300" b="1">
                <a:solidFill>
                  <a:srgbClr val="BA704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6840" y="2971800"/>
            <a:ext cx="17526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Регистрация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6840" y="3505200"/>
            <a:ext cx="1752600" cy="586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68746D"/>
                </a:solidFill>
                <a:latin typeface="Arial"/>
              </a:defRPr>
            </a:pPr>
            <a:r>
              <a:t>Показать имя</a:t>
            </a:r>
          </a:p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68746D"/>
                </a:solidFill>
                <a:latin typeface="Arial"/>
              </a:defRPr>
            </a:pPr>
            <a:r>
              <a:t>в шапке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9960" y="2057400"/>
            <a:ext cx="2095499" cy="26670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7599" y="2225040"/>
            <a:ext cx="16764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92"/>
              </a:lnSpc>
              <a:spcAft>
                <a:spcPts val="0"/>
              </a:spcAft>
              <a:defRPr sz="3300" b="1">
                <a:solidFill>
                  <a:srgbClr val="BA704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7599" y="2971800"/>
            <a:ext cx="17526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Добавление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7599" y="3505200"/>
            <a:ext cx="1752600" cy="586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68746D"/>
                </a:solidFill>
                <a:latin typeface="Arial"/>
              </a:defRPr>
            </a:pPr>
            <a:r>
              <a:t>Загрузить PNG</a:t>
            </a:r>
          </a:p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68746D"/>
                </a:solidFill>
                <a:latin typeface="Arial"/>
              </a:defRPr>
            </a:pPr>
            <a:r>
              <a:t>и сохранить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70720" y="2057400"/>
            <a:ext cx="2095499" cy="26670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2225040"/>
            <a:ext cx="16764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92"/>
              </a:lnSpc>
              <a:spcAft>
                <a:spcPts val="0"/>
              </a:spcAft>
              <a:defRPr sz="3300" b="1">
                <a:solidFill>
                  <a:srgbClr val="BA704D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971800"/>
            <a:ext cx="17526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Проверка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505200"/>
            <a:ext cx="1752600" cy="1096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68746D"/>
                </a:solidFill>
                <a:latin typeface="Arial"/>
              </a:defRPr>
            </a:pPr>
            <a:r>
              <a:t>Выйти и</a:t>
            </a:r>
          </a:p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68746D"/>
                </a:solidFill>
                <a:latin typeface="Arial"/>
              </a:defRPr>
            </a:pPr>
            <a:r>
              <a:t>проверить</a:t>
            </a:r>
          </a:p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68746D"/>
                </a:solidFill>
                <a:latin typeface="Arial"/>
              </a:defRPr>
            </a:pPr>
            <a:r>
              <a:t>ограничение</a:t>
            </a:r>
          </a:p>
          <a:p>
            <a:pPr>
              <a:lnSpc>
                <a:spcPts val="2008"/>
              </a:lnSpc>
              <a:spcAft>
                <a:spcPts val="0"/>
              </a:spcAft>
              <a:defRPr sz="1620" b="0">
                <a:solidFill>
                  <a:srgbClr val="68746D"/>
                </a:solidFill>
                <a:latin typeface="Arial"/>
              </a:defRPr>
            </a:pPr>
            <a:r>
              <a:t>доступа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680" y="5486400"/>
            <a:ext cx="11125200" cy="369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6"/>
              </a:lnSpc>
              <a:spcAft>
                <a:spcPts val="0"/>
              </a:spcAft>
              <a:defRPr sz="1859" b="1">
                <a:solidFill>
                  <a:srgbClr val="233E35"/>
                </a:solidFill>
                <a:latin typeface="Arial"/>
              </a:defRPr>
            </a:pPr>
            <a:r>
              <a:t>Ключевой сценарий: форма → проверка → база и media → страница новой книги.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6700"/>
            <a:ext cx="11049000" cy="284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36"/>
              </a:lnSpc>
              <a:spcAft>
                <a:spcPts val="0"/>
              </a:spcAft>
              <a:defRPr sz="1320" b="1">
                <a:solidFill>
                  <a:srgbClr val="BA704D"/>
                </a:solidFill>
                <a:latin typeface="Arial"/>
              </a:defRPr>
            </a:pPr>
            <a:r>
              <a:t>17 /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1980"/>
            <a:ext cx="11125200" cy="539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940" b="1">
                <a:solidFill>
                  <a:srgbClr val="233E35"/>
                </a:solidFill>
                <a:latin typeface="Arial"/>
              </a:defRPr>
            </a:pPr>
            <a:r>
              <a:t>Итог: требования выполнены, развитие понятно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264920"/>
            <a:ext cx="11216640" cy="1524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6416040"/>
            <a:ext cx="11216640" cy="7620"/>
          </a:xfrm>
          <a:prstGeom prst="rect">
            <a:avLst/>
          </a:prstGeom>
          <a:solidFill>
            <a:srgbClr val="D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545580"/>
            <a:ext cx="8381999" cy="236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4"/>
              </a:lnSpc>
              <a:spcAft>
                <a:spcPts val="0"/>
              </a:spcAft>
              <a:defRPr sz="1019" b="0">
                <a:solidFill>
                  <a:srgbClr val="68746D"/>
                </a:solidFill>
                <a:latin typeface="Arial"/>
              </a:defRPr>
            </a:pPr>
            <a:r>
              <a:t>ОТКРЫТАЯ БИБЛИОТЕКА / TSIS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5100"/>
            <a:ext cx="990599" cy="274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Aft>
                <a:spcPts val="0"/>
              </a:spcAft>
              <a:defRPr sz="1260" b="0">
                <a:solidFill>
                  <a:srgbClr val="68746D"/>
                </a:solidFill>
                <a:latin typeface="Arial"/>
              </a:defRPr>
            </a:pPr>
            <a:r>
              <a:t>18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1676400"/>
            <a:ext cx="5486400" cy="21717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180" y="1828800"/>
            <a:ext cx="51054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Реализовано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" y="2255520"/>
            <a:ext cx="5105400" cy="8132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Два приложения · шаблоны · статика</a:t>
            </a:r>
          </a:p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Обложки · авторизация · каталог</a:t>
            </a:r>
          </a:p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Адаптивность · 16 тестов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300" y="1676400"/>
            <a:ext cx="5486400" cy="2171700"/>
          </a:xfrm>
          <a:prstGeom prst="round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10540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1">
                <a:solidFill>
                  <a:srgbClr val="233E35"/>
                </a:solidFill>
                <a:latin typeface="Arial"/>
              </a:defRPr>
            </a:pPr>
            <a:r>
              <a:t>Следующие шаги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55520"/>
            <a:ext cx="5105400" cy="8132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Избранное и отзывы</a:t>
            </a:r>
          </a:p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Редактирование своих книг</a:t>
            </a:r>
          </a:p>
          <a:p>
            <a:pPr>
              <a:lnSpc>
                <a:spcPts val="1934"/>
              </a:lnSpc>
              <a:spcAft>
                <a:spcPts val="0"/>
              </a:spcAft>
              <a:defRPr sz="1560" b="0">
                <a:solidFill>
                  <a:srgbClr val="68746D"/>
                </a:solidFill>
                <a:latin typeface="Arial"/>
              </a:defRPr>
            </a:pPr>
            <a:r>
              <a:t>PostgreSQL и улучшение поиска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680" y="4305300"/>
            <a:ext cx="11049000" cy="3502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7"/>
              </a:lnSpc>
              <a:spcAft>
                <a:spcPts val="0"/>
              </a:spcAft>
              <a:defRPr sz="1739" b="0">
                <a:solidFill>
                  <a:srgbClr val="68746D"/>
                </a:solidFill>
                <a:latin typeface="Arial"/>
              </a:defRPr>
            </a:pPr>
            <a:r>
              <a:t>Каталог описаний: без чтения полных текстов. Публичное развёртывание требует отдельных настроек.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7680" y="5181600"/>
            <a:ext cx="11216640" cy="838200"/>
          </a:xfrm>
          <a:prstGeom prst="roundRect">
            <a:avLst/>
          </a:prstGeom>
          <a:solidFill>
            <a:srgbClr val="23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040" y="5425440"/>
            <a:ext cx="10744200" cy="425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52"/>
              </a:lnSpc>
              <a:spcAft>
                <a:spcPts val="0"/>
              </a:spcAft>
              <a:defRPr sz="2220" b="1">
                <a:solidFill>
                  <a:srgbClr val="FFFEFA"/>
                </a:solidFill>
                <a:latin typeface="Arial"/>
              </a:defRPr>
            </a:pPr>
            <a:r>
              <a:t>Спасибо! Готов показать код и ответить на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Открытая библиотека — защита проекта</dc:title>
  <dc:subject>Django: архитектура, код и демонстрация сайта</dc:subject>
  <dc:creator>TSIS-Jomartov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